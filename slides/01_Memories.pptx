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0-5 min · Pregunta inicial / demostración del problema</a:t>
            </a:r>
          </a:p>
          <a:p>
            <a:r>
              <a:t>DECIR: «Voy a hacer dos preguntas al asistente. Fijaos en la segunda.» Mostrar los dos turnos (o ejecutar los turnos 1 y 2 del notebook con thread_id distintos).</a:t>
            </a:r>
          </a:p>
          <a:p>
            <a:r>
              <a:t>PREGUNTAR: «¿Por qué no se acuerda de quién soy, si se lo he dicho?» — dejar 2-3 respuestas.</a:t>
            </a:r>
          </a:p>
          <a:p>
            <a:r>
              <a:t>CERRAR EN UNA FRASE: «Las llamadas al LLM son stateless: el contexto lo guarda y reenvía la aplicación.»</a:t>
            </a:r>
          </a:p>
          <a:p>
            <a:r>
              <a:t>NO: entrar todavía en APIs ni en código.</a:t>
            </a:r>
          </a:p>
          <a:p>
            <a:r>
              <a:t>Fuente: https://docs.langchain.com/oss/python/langchain/short-term-memory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5-10 min · Qué es y qué NO es la memoria conversacional</a:t>
            </a:r>
          </a:p>
          <a:p>
            <a:r>
              <a:t>DECIR: «Es un mecanismo de la aplicación: guardar el historial y reenviarlo en el siguiente prompt.»</a:t>
            </a:r>
          </a:p>
          <a:p>
            <a:r>
              <a:t>RECORRER LA COLUMNA «NO ES»: no es que el modelo recuerde, no es RAG ni una base de conocimiento (esos temas son de otras píldoras del itinerario), no es eterno por defecto.</a:t>
            </a:r>
          </a:p>
          <a:p>
            <a:r>
              <a:t>TRANSICIÓN: «Si no es el modelo, ¿quién y dónde lo guarda?»</a:t>
            </a:r>
          </a:p>
          <a:p>
            <a:r>
              <a:t>Fuente: https://docs.langchain.com/oss/python/concepts/memory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10-13 min · Los tres niveles</a:t>
            </a:r>
          </a:p>
          <a:p>
            <a:r>
              <a:t>HISTORIAL: la lista de mensajes de la conversación actual, lo que se reenvía al modelo.</a:t>
            </a:r>
          </a:p>
          <a:p>
            <a:r>
              <a:t>CORTO PLAZO: sesión o hilo — checkpointer + thread_id; se reanuda al continuar y muere al cerrar (en LangChain es memoria thread-scoped).</a:t>
            </a:r>
          </a:p>
          <a:p>
            <a:r>
              <a:t>PERSISTENTE: cruza sesiones (preferencias, hechos); requiere store/base de datos, consentimiento y borrado.</a:t>
            </a:r>
          </a:p>
          <a:p>
            <a:r>
              <a:t>ÉNFASIS: «Hoy trabajamos sobre todo el nivel 1 y 2; el 3 tocarlo es una decisión de producto.»</a:t>
            </a:r>
          </a:p>
          <a:p>
            <a:r>
              <a:t>Fuente: https://docs.langchain.com/oss/python/concepts/memory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13-15 min · Diagrama del flujo</a:t>
            </a:r>
          </a:p>
          <a:p>
            <a:r>
              <a:t>SEGUIR LA FLECHA CON EL DEDO, en este orden: 1) llega el mensaje nuevo; 2) se recupera TODO el historial del hilo; 3) se arma el prompt = system + historial + mensaje; 4) el LLM responde; 5) la respuesta se guarda en el checkpointer y alimenta el siguiente turno.</a:t>
            </a:r>
          </a:p>
          <a:p>
            <a:r>
              <a:t>CLAVE: «Sesión nueva = thread_id nuevo = historial vacío. Así evitamos fugas entre sesiones.»</a:t>
            </a:r>
          </a:p>
          <a:p>
            <a:r>
              <a:t>TRANSICIÓN: «Veámoslo en vivo con LangChain.»</a:t>
            </a:r>
          </a:p>
          <a:p>
            <a:r>
              <a:t>Fuente: https://reference.langchain.com/python/langchain-core/runnables/history/RunnableWithMessageHistory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15-30 min · Demo técnica con LangChain + comparación LlamaIndex</a:t>
            </a:r>
          </a:p>
          <a:p>
            <a:r>
              <a:t>EJECUTAR notebook 02 en este orden: instalación y modo (15-17) → checkpointer + thread_id (17-19) → turno 1 «Me llamo Alex…» (19-21) → turno 2 en el MISMO hilo, debe usar el contexto (21-23) → turno 3 con otro thread_id, SIN contexto (23-25) → get_state() muestra el historial 4 vs 2 mensajes (25-27) → delete_thread() borra solo esa sesión (27-28).</a:t>
            </a:r>
          </a:p>
          <a:p>
            <a:r>
              <a:t>LLAMAINDEX (28-30): solo comparación conceptual — Memory con session_id, cola FIFO a corto plazo y Memory Blocks a largo plazo; ChatMemoryBuffer está obsoleto. NO se implementa.</a:t>
            </a:r>
          </a:p>
          <a:p>
            <a:r>
              <a:t>COSTE: 4 llamadas cortas; Groq (nivel gratuito) o gpt-4o-mini. Sin clave, la demo corre en modo sin API.</a:t>
            </a:r>
          </a:p>
          <a:p>
            <a:r>
              <a:t>Fuentes: https://docs.langchain.com/oss/python/langchain/short-term-memory · https://developers.llamaindex.ai/python/examples/memory/memory/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55-60 min · Conclusión y criterio ético</a:t>
            </a:r>
          </a:p>
          <a:p>
            <a:r>
              <a:t>LÍMITES (55-58): el historial crece → ventana de contexto y coste; datos guardados pueden estar mal o ser sensibles; un thread_id compartido = fuga de contexto entre usuarios.</a:t>
            </a:r>
          </a:p>
          <a:p>
            <a:r>
              <a:t>CRITERIO ÉTICO (58-59): leer o parafrasear docs/criterio_etico.md. Frase final: «Minimiza, aísla, borra: guardar más no es mejor.»</a:t>
            </a:r>
          </a:p>
          <a:p>
            <a:r>
              <a:t>CIERRE (59-60): los 3 mensajes clave + preguntas del grupo. Recordad: el reto es 30-50 min y las pruebas se ejecutan conjuntamente en 50-55 min.</a:t>
            </a:r>
          </a:p>
          <a:p>
            <a:r>
              <a:t>Fuente: docs/criterio_etico.md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langchain.com/oss/python/langchain/short-term-memory" TargetMode="Externa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langchain.com/oss/python/concepts/memory" TargetMode="Externa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langchain.com/oss/python/concepts/memory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ference.langchain.com/python/langchain-core/runnables/history/RunnableWithMessageHistory" TargetMode="Externa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evelopers.llamaindex.ai/python/examples/memory/memory/" TargetMode="Externa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langchain.com/oss/python/concepts/memory" TargetMode="Externa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El problema: un asistente sin contexto previo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9848"/>
            <a:ext cx="1737360" cy="502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1206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300" b="1">
                <a:solidFill>
                  <a:srgbClr val="1F3A5F"/>
                </a:solidFill>
                <a:latin typeface="Arial"/>
              </a:rPr>
              <a:t>Turno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120640" cy="566928"/>
          </a:xfrm>
          <a:prstGeom prst="roundRect">
            <a:avLst>
              <a:gd name="adj" fmla="val 12000"/>
            </a:avLst>
          </a:prstGeom>
          <a:solidFill>
            <a:srgbClr val="F2F6FA"/>
          </a:solidFill>
          <a:ln w="15875">
            <a:solidFill>
              <a:srgbClr val="D8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A5568"/>
                </a:solidFill>
                <a:latin typeface="Arial"/>
              </a:rPr>
              <a:t>Usuario: «Me llamo Alex, trabajo con Python»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41448"/>
            <a:ext cx="5120640" cy="566928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Asistente: «¡Hola! ¿En qué te ayudo?»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29000"/>
            <a:ext cx="51206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300" b="1">
                <a:solidFill>
                  <a:srgbClr val="1F3A5F"/>
                </a:solidFill>
                <a:latin typeface="Arial"/>
              </a:rPr>
              <a:t>Turno 2 · mismo 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86200"/>
            <a:ext cx="5120640" cy="566928"/>
          </a:xfrm>
          <a:prstGeom prst="roundRect">
            <a:avLst>
              <a:gd name="adj" fmla="val 12000"/>
            </a:avLst>
          </a:prstGeom>
          <a:solidFill>
            <a:srgbClr val="F2F6FA"/>
          </a:solidFill>
          <a:ln w="15875">
            <a:solidFill>
              <a:srgbClr val="D8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A5568"/>
                </a:solidFill>
                <a:latin typeface="Arial"/>
              </a:rPr>
              <a:t>Usuario: «¿Cómo puedo leer un archivo CSV?»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44568"/>
            <a:ext cx="512064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2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23A3A"/>
                </a:solidFill>
                <a:latin typeface="Arial"/>
              </a:rPr>
              <a:t>Asistente: «¿Qué es un CSV?»  × no sabe quién eres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83080"/>
            <a:ext cx="5212080" cy="33284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¿Qué ha pasado aquí?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El LLM no guarda nada entre llamadas (stateless)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Tu aplicación tampoco reenvía el historial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Cada turno parte de cero: el contexto se pierde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La solución: guardar y reenviar el historial — eso es la memoria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577840"/>
            <a:ext cx="10881360" cy="548640"/>
          </a:xfrm>
          <a:prstGeom prst="roundRect">
            <a:avLst>
              <a:gd name="adj" fmla="val 25000"/>
            </a:avLst>
          </a:prstGeom>
          <a:solidFill>
            <a:srgbClr val="E9C46A"/>
          </a:solidFill>
          <a:ln w="12700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Arial"/>
              </a:rPr>
              <a:t>Sin contexto guardado no hay continuidad: lo tiene que aportar la aplicación.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A5568"/>
                </a:solidFill>
                <a:latin typeface="Arial"/>
                <a:hlinkClick r:id="rId2"/>
              </a:rPr>
              <a:t>docs.langchain.com/oss/python/langchain/short-term-memory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19088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4A5568"/>
                </a:solidFill>
                <a:latin typeface="Arial"/>
              </a:rP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Memoria conversacional: qué es y qué NO 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9848"/>
            <a:ext cx="1737360" cy="502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394960" cy="3611880"/>
          </a:xfrm>
          <a:prstGeom prst="roundRect">
            <a:avLst>
              <a:gd name="adj" fmla="val 6000"/>
            </a:avLst>
          </a:prstGeom>
          <a:solidFill>
            <a:srgbClr val="F3FB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A9D8F"/>
                </a:solidFill>
                <a:latin typeface="Arial"/>
              </a:rPr>
              <a:t>SÍ es memoria conversacional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Arial"/>
              </a:rPr>
              <a:t>• Guardar los mensajes de la conversación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Arial"/>
              </a:rPr>
              <a:t>• Reenviarlos como contexto en el siguiente prompt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Arial"/>
              </a:rPr>
              <a:t>• Un mecanismo de TU aplicación: checkpointer + hilo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Arial"/>
              </a:rPr>
              <a:t>• Alcance: una sesión concreta — y solo esa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Arial"/>
              </a:rPr>
              <a:t>• Algo que puedes inspeccionar y borrar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394960" cy="3611880"/>
          </a:xfrm>
          <a:prstGeom prst="roundRect">
            <a:avLst>
              <a:gd name="adj" fmla="val 6000"/>
            </a:avLst>
          </a:prstGeom>
          <a:solidFill>
            <a:srgbClr val="FCF4F4"/>
          </a:solidFill>
          <a:ln w="15875">
            <a:solidFill>
              <a:srgbClr val="B2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B23A3A"/>
                </a:solidFill>
                <a:latin typeface="Arial"/>
              </a:rPr>
              <a:t>NO es…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Arial"/>
              </a:rPr>
              <a:t>• Que «el modelo recuerde» por sí solo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Arial"/>
              </a:rPr>
              <a:t>• La base de conocimiento del producto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Arial"/>
              </a:rPr>
              <a:t>• RAG, embeddings ni bases vectoriales (otra píldora)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Arial"/>
              </a:rPr>
              <a:t>• Almacenamiento permanente y silencioso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Arial"/>
              </a:rPr>
              <a:t>• Sinónimo de buena respuesta: más contexto no siempre es mejor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881360" cy="502920"/>
          </a:xfrm>
          <a:prstGeom prst="roundRect">
            <a:avLst>
              <a:gd name="adj" fmla="val 25000"/>
            </a:avLst>
          </a:prstGeom>
          <a:solidFill>
            <a:srgbClr val="F2F6FA"/>
          </a:solidFill>
          <a:ln w="12700">
            <a:solidFill>
              <a:srgbClr val="D8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Arial"/>
              </a:rPr>
              <a:t>La memoria la construye tu aplicación, no el LLM.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A5568"/>
                </a:solidFill>
                <a:latin typeface="Arial"/>
                <a:hlinkClick r:id="rId2"/>
              </a:rPr>
              <a:t>docs.langchain.com/oss/python/concepts/memory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4A5568"/>
                </a:solidFill>
                <a:latin typeface="Arial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Historial, memoria a corto plazo y memoria persistente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9848"/>
            <a:ext cx="1737360" cy="502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DF8EC"/>
          </a:solidFill>
          <a:ln w="15875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8A6D1F"/>
                </a:solidFill>
                <a:latin typeface="Arial"/>
              </a:rPr>
              <a:t>1 · Historial conversacional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La lista de mensajes (usuario / IA) de la conversación actual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Ej.: «Me llamo Alex…» + respuesta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Es lo que se reenvía al modelo en cada turno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Solo existe mientras la app lo conserva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0248" y="137160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B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2A9D8F"/>
                </a:solidFill>
                <a:latin typeface="Arial"/>
              </a:rPr>
              <a:t>2 · Memoria a corto plazo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Sesión o hilo: checkpointer + thread_id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Se reanuda al continuar la conversación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LangChain: InMemorySaver (demo) · Postgres (producción)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Muere al cerrar o borrar el hilo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0416" y="137160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F3A5F"/>
                </a:solidFill>
                <a:latin typeface="Arial"/>
              </a:rPr>
              <a:t>3 · Memoria persistente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Cruza sesiones: preferencias y hechos del usuario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LangChain: stores con namespaces · LlamaIndex: Memory Blocks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Exige consentimiento, retención y borrado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No la usamos en esta píldora: es otro nivel de diseño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77840"/>
            <a:ext cx="10881360" cy="548640"/>
          </a:xfrm>
          <a:prstGeom prst="roundRect">
            <a:avLst>
              <a:gd name="adj" fmla="val 25000"/>
            </a:avLst>
          </a:prstGeom>
          <a:solidFill>
            <a:srgbClr val="E9C46A"/>
          </a:solidFill>
          <a:ln w="12700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Arial"/>
              </a:rPr>
              <a:t>Hoy trabajamos los niveles 1 y 2: el historial y la memoria de la sesión (hilos).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A5568"/>
                </a:solidFill>
                <a:latin typeface="Arial"/>
                <a:hlinkClick r:id="rId2"/>
              </a:rPr>
              <a:t>docs.langchain.com/oss/python/concepts/memory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4A5568"/>
                </a:solidFill>
                <a:latin typeface="Arial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El flujo de memoria de una aplicación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9848"/>
            <a:ext cx="1737360" cy="502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98448"/>
            <a:ext cx="73152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400" b="0">
                <a:solidFill>
                  <a:srgbClr val="4A5568"/>
                </a:solidFill>
                <a:latin typeface="Arial"/>
              </a:rPr>
              <a:t>Un turno cualquiera, paso a paso: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737360" cy="1051560"/>
          </a:xfrm>
          <a:prstGeom prst="roundRect">
            <a:avLst>
              <a:gd name="adj" fmla="val 12000"/>
            </a:avLst>
          </a:prstGeom>
          <a:solidFill>
            <a:srgbClr val="F2F6FA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Mensaje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nuevo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40280" y="2281427"/>
            <a:ext cx="320040" cy="329184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06040" y="192024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E8F5F3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A9D8F"/>
                </a:solidFill>
                <a:latin typeface="Arial"/>
              </a:rPr>
              <a:t>Historial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A9D8F"/>
                </a:solidFill>
                <a:latin typeface="Arial"/>
              </a:rPr>
              <a:t>del hilo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A9D8F"/>
                </a:solidFill>
                <a:latin typeface="Arial"/>
              </a:rPr>
              <a:t>(thread_id)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2281427"/>
            <a:ext cx="274320" cy="329184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983480" y="19202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F2F6FA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Prompt = system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+ historial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+ mensaje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543800" y="2281427"/>
            <a:ext cx="274320" cy="329184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63840" y="1920240"/>
            <a:ext cx="1188720" cy="105156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098280" y="2281427"/>
            <a:ext cx="274320" cy="329184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418320" y="1920240"/>
            <a:ext cx="1737360" cy="1051560"/>
          </a:xfrm>
          <a:prstGeom prst="roundRect">
            <a:avLst>
              <a:gd name="adj" fmla="val 12000"/>
            </a:avLst>
          </a:prstGeom>
          <a:solidFill>
            <a:srgbClr val="E8F5F3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A9D8F"/>
                </a:solidFill>
                <a:latin typeface="Arial"/>
              </a:rPr>
              <a:t>Respuesta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104120" y="3063240"/>
            <a:ext cx="365760" cy="914400"/>
          </a:xfrm>
          <a:prstGeom prst="downArrow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611880" y="3977639"/>
            <a:ext cx="6858000" cy="457200"/>
          </a:xfrm>
          <a:prstGeom prst="leftArrow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F3A5F"/>
                </a:solidFill>
                <a:latin typeface="Arial"/>
              </a:rPr>
              <a:t>la respuesta se guarda en el checkpointer y alimenta el siguiente turno</a:t>
            </a:r>
          </a:p>
        </p:txBody>
      </p:sp>
      <p:sp>
        <p:nvSpPr>
          <p:cNvPr id="16" name="Up Arrow 15"/>
          <p:cNvSpPr/>
          <p:nvPr/>
        </p:nvSpPr>
        <p:spPr>
          <a:xfrm>
            <a:off x="3429000" y="3063240"/>
            <a:ext cx="365760" cy="914400"/>
          </a:xfrm>
          <a:prstGeom prst="upArrow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5257800"/>
            <a:ext cx="11064240" cy="640080"/>
          </a:xfrm>
          <a:prstGeom prst="roundRect">
            <a:avLst>
              <a:gd name="adj" fmla="val 25000"/>
            </a:avLst>
          </a:prstGeom>
          <a:solidFill>
            <a:srgbClr val="E9C46A"/>
          </a:solidFill>
          <a:ln w="12700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600" b="1">
                <a:solidFill>
                  <a:srgbClr val="1F3A5F"/>
                </a:solidFill>
                <a:latin typeface="Arial"/>
              </a:rPr>
              <a:t>Sesión nueva = otro thread_id = historial vacío = sin contexto previo.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989320"/>
            <a:ext cx="11064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8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300" b="0">
                <a:solidFill>
                  <a:srgbClr val="4A5568"/>
                </a:solidFill>
                <a:latin typeface="Arial"/>
              </a:rPr>
              <a:t>En la demo: checkpointer = InMemorySaver()  ·  un thread_id por conversación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A5568"/>
                </a:solidFill>
                <a:latin typeface="Arial"/>
                <a:hlinkClick r:id="rId2"/>
              </a:rPr>
              <a:t>reference.langchain.com/…/RunnableWithMessageHistory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19088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4A5568"/>
                </a:solidFill>
                <a:latin typeface="Arial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Demo con LangChain y comparación con LlamaIndex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9848"/>
            <a:ext cx="1737360" cy="502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852160" cy="4114800"/>
          </a:xfrm>
          <a:prstGeom prst="roundRect">
            <a:avLst>
              <a:gd name="adj" fmla="val 6000"/>
            </a:avLst>
          </a:prstGeom>
          <a:solidFill>
            <a:srgbClr val="F3FB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A9D8F"/>
                </a:solidFill>
                <a:latin typeface="Arial"/>
              </a:rPr>
              <a:t>LangChain — la demo que vas a ver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57400"/>
            <a:ext cx="539496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109728" bIns="109728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F3A5F"/>
                </a:solidFill>
                <a:latin typeface="Courier New"/>
              </a:rPr>
              <a:t>agente = create_agent(modelo, checkpointer=InMemorySaver())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F3A5F"/>
                </a:solidFill>
                <a:latin typeface="Courier New"/>
              </a:rPr>
              <a:t>cfg = {"configurable": {"thread_id": "sesion-alex"}}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F3A5F"/>
                </a:solidFill>
                <a:latin typeface="Courier New"/>
              </a:rPr>
              <a:t>agente.invoke({"messages": [msg]}, cfg)   # turnos 1 y 2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F3A5F"/>
                </a:solidFill>
                <a:latin typeface="Courier New"/>
              </a:rPr>
              <a:t>agente.get_state(cfg)                     # inspección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F3A5F"/>
                </a:solidFill>
                <a:latin typeface="Courier New"/>
              </a:rPr>
              <a:t>checkpointer.delete_thread("sesion-alex")  # borrado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794760"/>
            <a:ext cx="53949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A9D8F"/>
                </a:solidFill>
                <a:latin typeface="Arial"/>
              </a:rPr>
              <a:t/>
            </a:r>
            <a:r>
              <a:rPr sz="1350" b="1" i="0">
                <a:solidFill>
                  <a:srgbClr val="4A5568"/>
                </a:solidFill>
                <a:latin typeface="Arial"/>
              </a:rPr>
              <a:t>• Mismo thread_id → continuidad entre turnos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Otro thread_id → sesión aislada (sin datos del otro)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get_state() → historial completo · delete_thread() → borrado selectivo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1371600"/>
            <a:ext cx="4846320" cy="41148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LlamaIndex — comparación (1 min)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Objeto central: Memory con session_id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Corto plazo: cola FIFO de ChatMessage; al llegar al límite se vacía (flush)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Largo plazo: Memory Blocks — estáticos, hechos extraídos, vectoriales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ChatMemoryBuffer está obsoleto: usar Memory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Misma idea: alguien guarda el historial y lo reenvía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502920"/>
          </a:xfrm>
          <a:prstGeom prst="roundRect">
            <a:avLst>
              <a:gd name="adj" fmla="val 25000"/>
            </a:avLst>
          </a:prstGeom>
          <a:solidFill>
            <a:srgbClr val="E9C46A"/>
          </a:solidFill>
          <a:ln w="12700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450" b="1">
                <a:solidFill>
                  <a:srgbClr val="1F3A5F"/>
                </a:solidFill>
                <a:latin typeface="Arial"/>
              </a:rPr>
              <a:t>Solo se implementa LangChain: LlamaIndex es comparación conceptual.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A5568"/>
                </a:solidFill>
                <a:latin typeface="Arial"/>
                <a:hlinkClick r:id="rId2"/>
              </a:rPr>
              <a:t>developers.llamaindex.ai/python/examples/memory/memory/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4A5568"/>
                </a:solidFill>
                <a:latin typeface="Arial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Límites, privacidad y conclusiones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9848"/>
            <a:ext cx="1737360" cy="502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486400" cy="3611880"/>
          </a:xfrm>
          <a:prstGeom prst="roundRect">
            <a:avLst>
              <a:gd name="adj" fmla="val 6000"/>
            </a:avLst>
          </a:prstGeom>
          <a:solidFill>
            <a:srgbClr val="FCF4F4"/>
          </a:solidFill>
          <a:ln w="15875">
            <a:solidFill>
              <a:srgbClr val="B2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B23A3A"/>
                </a:solidFill>
                <a:latin typeface="Arial"/>
              </a:rPr>
              <a:t>Límites y riesgos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El historial crece: más tokens → más coste y peor contexto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La ventana de contexto tiene techo: hay que podar o resumir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Datos sensibles o erróneos se reutilizan como si fueran ciertos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Un thread_id compartido = fuga de contexto entre usuarios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• Recuperar mal = respuestas mal, con apariencia de certeza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5120640" cy="3611880"/>
          </a:xfrm>
          <a:prstGeom prst="roundRect">
            <a:avLst>
              <a:gd name="adj" fmla="val 6000"/>
            </a:avLst>
          </a:prstGeom>
          <a:solidFill>
            <a:srgbClr val="F3FBFA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4630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A9D8F"/>
                </a:solidFill>
                <a:latin typeface="Arial"/>
              </a:rPr>
              <a:t>Conclusiones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4A5568"/>
                </a:solidFill>
                <a:latin typeface="Arial"/>
              </a:rPr>
              <a:t>• 1. Sin historial reenviado, no hay continuidad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4A5568"/>
                </a:solidFill>
                <a:latin typeface="Arial"/>
              </a:rPr>
              <a:t>• 2. Corto plazo = hilos aislados (thread_id + checkpointer)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4A5568"/>
                </a:solidFill>
                <a:latin typeface="Arial"/>
              </a:rPr>
              <a:t>• 3. Persistente = entre sesiones: solo con diseño y consentimiento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4A5568"/>
                </a:solidFill>
                <a:latin typeface="Arial"/>
              </a:rPr>
              <a:t>• 4. Minimiza · aísla · borra: guardar más no es mejor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881360" cy="548640"/>
          </a:xfrm>
          <a:prstGeom prst="roundRect">
            <a:avLst>
              <a:gd name="adj" fmla="val 25000"/>
            </a:avLst>
          </a:prstGeom>
          <a:solidFill>
            <a:srgbClr val="F2F6FA"/>
          </a:solidFill>
          <a:ln w="12700">
            <a:solidFill>
              <a:srgbClr val="D8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450" b="1">
                <a:solidFill>
                  <a:srgbClr val="1F3A5F"/>
                </a:solidFill>
                <a:latin typeface="Arial"/>
              </a:rPr>
              <a:t>Criterio ético: docs/criterio_etico.md  ·  corrección del reto: 4 tests = 4 criterios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A5568"/>
                </a:solidFill>
                <a:latin typeface="Arial"/>
                <a:hlinkClick r:id="rId2"/>
              </a:rPr>
              <a:t>docs.langchain.com/oss/python/concepts/memory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4A5568"/>
                </a:solidFill>
                <a:latin typeface="Arial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Memories con LangChain y LlamaIndex</dc:title>
  <dc:subject>Píldora: Orquestación de flujos con LangChain/LlamaIndex — Memories</dc:subject>
  <dc:creator>Formación técnica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