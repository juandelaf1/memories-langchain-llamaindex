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JetBrains Mono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721c2884-8f90-43d1-8325-7d9fa9314f44.fntdata" /><ns0:Relationship Id="rIdFont18" Type="http://schemas.openxmlformats.org/officeDocument/2006/relationships/font" Target="fonts/fd4b3576-34d4-4574-9d95-c752fa79e8ef.fntdata" /><ns0:Relationship Id="rIdFont19" Type="http://schemas.openxmlformats.org/officeDocument/2006/relationships/font" Target="fonts/16f0909d-1e3d-4349-a627-9647ee505b4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012602"/>
            <a:ext cx="2971800" cy="276225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74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426148"/>
            <a:ext cx="1857375" cy="419100"/>
          </a:xfrm>
          <a:prstGeom prst="roundRect">
            <a:avLst>
              <a:gd name="adj" fmla="val 2727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95575" y="4426148"/>
            <a:ext cx="1819275" cy="419100"/>
          </a:xfrm>
          <a:prstGeom prst="roundRect">
            <a:avLst>
              <a:gd name="adj" fmla="val 2727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790" y="0"/>
            <a:ext cx="4869209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578548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4578548"/>
            <a:ext cx="11430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555527"/>
            <a:ext cx="634876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Orquestación de Memoria en Agentes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51808"/>
            <a:ext cx="7438987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«La memoria la construye tu aplicación, no el LLM.»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2079277"/>
            <a:ext cx="3167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CLASE MAGISTRAL · ARQUITECTURA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540448"/>
            <a:ext cx="1571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Contexto Dinámico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6075" y="4540448"/>
            <a:ext cx="1533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Estado Persistente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00637" y="1514475"/>
            <a:ext cx="1990725" cy="2190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00325"/>
            <a:ext cx="5172075" cy="2743200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38875" y="2590800"/>
            <a:ext cx="5191125" cy="2762250"/>
          </a:xfrm>
          <a:prstGeom prst="roundRect">
            <a:avLst>
              <a:gd name="adj" fmla="val 6896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4425" y="4686300"/>
            <a:ext cx="1676400" cy="3048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00825" y="4686300"/>
            <a:ext cx="2276475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952750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952750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962" y="3095625"/>
            <a:ext cx="3143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987" y="3095625"/>
            <a:ext cx="21907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66096" y="1552575"/>
            <a:ext cx="225980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01 · ARQUITECTURA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1819275"/>
            <a:ext cx="127635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Plus Jakarta Sans"/>
              </a:rPr>
              <a:t>El LLM es el Actor. Tu Aplicación es el Director.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676650"/>
            <a:ext cx="586323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El LLM (El Actor)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4038600"/>
            <a:ext cx="4562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Brillante en interpretación instantánea, pero completamente desmemoriado al bajar el telón.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75" y="4762500"/>
            <a:ext cx="1504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91B1B"/>
                </a:solidFill>
                <a:latin typeface="Plus Jakarta Sans"/>
              </a:rPr>
              <a:t>Stateless (Sin memoria)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676650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La Aplicación (El Director)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4038600"/>
            <a:ext cx="4562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1E40AF"/>
                </a:solidFill>
                <a:latin typeface="Plus Jakarta Sans"/>
              </a:rPr>
              <a:t>Sostiene el libreto. Registra la escena previa y le susurra al actor el contexto exacto antes de cada toma.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4762500"/>
            <a:ext cx="21050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Stateful (Orquestador de Estado)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438650"/>
            <a:ext cx="10668000" cy="609600"/>
          </a:xfrm>
          <a:prstGeom prst="roundRect">
            <a:avLst>
              <a:gd name="adj" fmla="val 2187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800350"/>
            <a:ext cx="5200650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800350"/>
            <a:ext cx="5200650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8225" y="3076575"/>
            <a:ext cx="676275" cy="219075"/>
          </a:xfrm>
          <a:prstGeom prst="roundRect">
            <a:avLst>
              <a:gd name="adj" fmla="val 260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05575" y="3076575"/>
            <a:ext cx="1343025" cy="219075"/>
          </a:xfrm>
          <a:prstGeom prst="roundRect">
            <a:avLst>
              <a:gd name="adj" fmla="val 2608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4629150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075" y="310991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9475" y="3109912"/>
            <a:ext cx="11430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1809750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02 · El Reto del 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06692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¿Por qué un Agente colapsa en el Turno 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4636293"/>
            <a:ext cx="10801350" cy="214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FFFFF"/>
                </a:solidFill>
                <a:latin typeface="Plus Jakarta Sans"/>
              </a:rPr>
              <a:t>La Solución: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La API de un LLM no guarda llamadas. Tu aplicación debe </a:t>
            </a:r>
            <a:r>
              <a:rPr b="0" sz="1125" i="0" u="none">
                <a:solidFill>
                  <a:srgbClr val="38BDF8"/>
                </a:solidFill>
                <a:latin typeface="Plus Jakarta Sans"/>
              </a:rPr>
              <a:t>reinyectar todo el historial acumulado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en cada nueva petición.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448050"/>
            <a:ext cx="61007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«Hola, me llamo Alex y programo en Python.»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724275"/>
            <a:ext cx="581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El LLM responde amablemente y finaliza la petición HTTP.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448050"/>
            <a:ext cx="5686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«¿Qué lenguaje te dije que uso?»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3724275"/>
            <a:ext cx="5686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Plus Jakarta Sans"/>
              </a:rPr>
              <a:t>«No me has mencionado ningún lenguaje aún.»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475" y="3114675"/>
            <a:ext cx="581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TURNO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3114675"/>
            <a:ext cx="1247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TURNO 2 (AMNESIA)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48012"/>
            <a:ext cx="3397299" cy="1590675"/>
          </a:xfrm>
          <a:prstGeom prst="roundRect">
            <a:avLst>
              <a:gd name="adj" fmla="val 9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7899" y="3148012"/>
            <a:ext cx="3397299" cy="1590675"/>
          </a:xfrm>
          <a:prstGeom prst="roundRect">
            <a:avLst>
              <a:gd name="adj" fmla="val 95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13799" y="3148012"/>
            <a:ext cx="3416349" cy="1590675"/>
          </a:xfrm>
          <a:prstGeom prst="roundRect">
            <a:avLst>
              <a:gd name="adj" fmla="val 958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424237"/>
            <a:ext cx="2844849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124" y="3424237"/>
            <a:ext cx="284484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549" y="3433762"/>
            <a:ext cx="2844849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2119312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03 · Ecosistema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76487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¿Dónde se sitúa la Memoria conversacional?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805237"/>
            <a:ext cx="37338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Cadenas (Chains)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100512"/>
            <a:ext cx="29400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Secuencian pasos lógicos y estructuran la ejecución paso a paso.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4124" y="3805237"/>
            <a:ext cx="37338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RAG (Conocimiento Estático)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4124" y="4100512"/>
            <a:ext cx="29400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Recupera documentos corporativos o datos externos en tiempo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549" y="3814762"/>
            <a:ext cx="37338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Memoria Conversacional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9549" y="4110037"/>
            <a:ext cx="294009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E40AF"/>
                </a:solidFill>
                <a:latin typeface="Plus Jakarta Sans"/>
              </a:rPr>
              <a:t>Sostiene el hilo vivo de la conversación actual y el contexto del usuario.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86125"/>
            <a:ext cx="2266950" cy="1314450"/>
          </a:xfrm>
          <a:prstGeom prst="roundRect">
            <a:avLst>
              <a:gd name="adj" fmla="val 1159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62350" y="3286125"/>
            <a:ext cx="2266950" cy="1314450"/>
          </a:xfrm>
          <a:prstGeom prst="roundRect">
            <a:avLst>
              <a:gd name="adj" fmla="val 1159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62700" y="3286125"/>
            <a:ext cx="2266950" cy="1314450"/>
          </a:xfrm>
          <a:prstGeom prst="roundRect">
            <a:avLst>
              <a:gd name="adj" fmla="val 11594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3050" y="3286125"/>
            <a:ext cx="2266950" cy="1314450"/>
          </a:xfrm>
          <a:prstGeom prst="roundRect">
            <a:avLst>
              <a:gd name="adj" fmla="val 1159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3857625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57625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3857625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257425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04 · Flujo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5146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El Ciclo de Vida de un Mensaje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514725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Paso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0950" y="3514725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Paso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514725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Paso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1650" y="3514725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Paso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800475"/>
            <a:ext cx="23502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Petición +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057650"/>
            <a:ext cx="1885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Llega el mensaje con su identificador único de sesión.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0475" y="3800475"/>
            <a:ext cx="23502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Carga de Estado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0475" y="4057650"/>
            <a:ext cx="1885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El almacén recupera el historial de la sesión.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3800475"/>
            <a:ext cx="23502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Inferencia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4057650"/>
            <a:ext cx="1885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El modelo razona sobre todo el contexto reunido.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1175" y="3800475"/>
            <a:ext cx="23502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Guardado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1175" y="4057650"/>
            <a:ext cx="1885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Se añade el nuevo turno al historial de sesión.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10296"/>
            <a:ext cx="5410200" cy="2589907"/>
          </a:xfrm>
          <a:prstGeom prst="roundRect">
            <a:avLst>
              <a:gd name="adj" fmla="val 588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0" y="3114675"/>
            <a:ext cx="4953000" cy="714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3981450"/>
            <a:ext cx="4953000" cy="714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3114675"/>
            <a:ext cx="38100" cy="714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0" y="3981450"/>
            <a:ext cx="38100" cy="714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657796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05 · Ingeniería de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914971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Orquestación Práctica en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838896"/>
            <a:ext cx="5048250" cy="2132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JetBrains Mono"/>
              </a:rPr>
              <a:t># 1. Almacén de memoria en RAM</a:t>
            </a:r>
            <a:r>
              <a:t>
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langgraph.checkpoint.memory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import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InMemorySaver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checkpointer = InMemorySaver()</a:t>
            </a:r>
            <a:r>
              <a:t>
</a:t>
            </a:r>
            <a:r>
              <a:t>
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# 2. Creación del agente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agente = create_agent(model=modelo, checkpointer=checkpointer)</a:t>
            </a:r>
            <a:r>
              <a:t>
</a:t>
            </a:r>
            <a:r>
              <a:t>
</a:t>
            </a:r>
            <a:r>
              <a:rPr b="0" sz="1050" i="0" u="none">
                <a:solidFill>
                  <a:srgbClr val="64748B"/>
                </a:solidFill>
                <a:latin typeface="JetBrains Mono"/>
              </a:rPr>
              <a:t># 3. Invocación con ID de sesión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config = {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"configurable"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: {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"thread_id"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: </a:t>
            </a:r>
            <a:r>
              <a:rPr b="0" sz="1050" i="0" u="none">
                <a:solidFill>
                  <a:srgbClr val="A3E635"/>
                </a:solidFill>
                <a:latin typeface="JetBrains Mono"/>
              </a:rPr>
              <a:t>"sesion-alex"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}}</a:t>
            </a:r>
            <a:r>
              <a:t>
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 agente.invoke({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"messages"</a:t>
            </a:r>
            <a:r>
              <a:rPr b="0" sz="1050" i="0" u="none">
                <a:solidFill>
                  <a:srgbClr val="F8FAFC"/>
                </a:solidFill>
                <a:latin typeface="JetBrains Mono"/>
              </a:rPr>
              <a:t>: [...]}, config=config)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3267075"/>
            <a:ext cx="5486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InMemorySaver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505200"/>
            <a:ext cx="5486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Guarda el estado del flujo directamente en memoria.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4133850"/>
            <a:ext cx="5486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thread_id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4371975"/>
            <a:ext cx="5486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Aísla por completo el contexto entre usuarios o chats.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33700"/>
            <a:ext cx="5181600" cy="19812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26543"/>
            <a:ext cx="5181600" cy="2195512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24802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140868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3371850"/>
            <a:ext cx="26670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3264693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835943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06 · Seguridad y 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093118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Aislamiento por Hilo y Volatilidad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857625"/>
            <a:ext cx="59757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Aislamiento con thread_id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171950"/>
            <a:ext cx="4648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Cada chat tiene su propia clave. Cambiar el ID crea un entorno completamente limpio y aislado sin fugas de datos.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750468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RAM vs Producción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064793"/>
            <a:ext cx="46482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`InMemorySaver` es ideal para pruebas. En entornos de producción, se conecta a Postgres o Redis para no perder estado tras reinicios.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49380" y="3128962"/>
            <a:ext cx="4480619" cy="1590675"/>
          </a:xfrm>
          <a:prstGeom prst="roundRect">
            <a:avLst>
              <a:gd name="adj" fmla="val 958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057525"/>
            <a:ext cx="5920680" cy="790575"/>
          </a:xfrm>
          <a:prstGeom prst="roundRect">
            <a:avLst>
              <a:gd name="adj" fmla="val 168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000500"/>
            <a:ext cx="5920680" cy="790575"/>
          </a:xfrm>
          <a:prstGeom prst="roundRect">
            <a:avLst>
              <a:gd name="adj" fmla="val 168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348037"/>
            <a:ext cx="209550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4291012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080" y="3724275"/>
            <a:ext cx="13335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080" y="401002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080" y="4295775"/>
            <a:ext cx="13335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2066925"/>
            <a:ext cx="10763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07 · Retos y Alternativas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3241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Gestión de Tokens y Ventana de 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6080" y="3395662"/>
            <a:ext cx="49759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Técnicas de Recorte: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5630" y="3709987"/>
            <a:ext cx="4724474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Ventana Deslizante (Últimos N mensajes)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580" y="3995737"/>
            <a:ext cx="4743524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Resumen Automático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5630" y="4281487"/>
            <a:ext cx="4724474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Búferes FIFO / LlamaIndex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" y="3257550"/>
            <a:ext cx="52756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Coste de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3975" y="3495675"/>
            <a:ext cx="5024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Enviar historiales gigantes encarece cada llamada exponencialmente.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3975" y="4200525"/>
            <a:ext cx="503812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Degradación del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3975" y="4438650"/>
            <a:ext cx="4798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Demasiado texto pasado diluye la capacidad de respuesta actual.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85692"/>
            <a:ext cx="2066925" cy="409575"/>
          </a:xfrm>
          <a:prstGeom prst="roundRect">
            <a:avLst>
              <a:gd name="adj" fmla="val 23255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0"/>
            <a:ext cx="54102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62583"/>
            <a:ext cx="6762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08 · CIERRE Y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7858"/>
            <a:ext cx="5780722" cy="1380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Las 4 Operaciones Clave: Guardar, Recuperar, Aislar y Borrar.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66542"/>
            <a:ext cx="5505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El éxito de los agentes en producción depende de la precisión de tu arquitectura de estado.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99992"/>
            <a:ext cx="17049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90D16"/>
                </a:solidFill>
                <a:latin typeface="Plus Jakarta Sans"/>
              </a:rPr>
              <a:t>¡Turno para Preguntas!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6667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https://images.presentationgo.com/2025/04/abstract-neural-network-background.png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3131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www.presentationgo.com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10001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https://media.easy-peasy.ai/8f0dd6c2-432a-4079-8cf0-66c2498f9360/8ffc5c95-cf8c-463e-b3dc-7ec7a1b178ce_medium.webp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024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easy-peasy.ai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